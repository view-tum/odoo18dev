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91440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10789920" cy="731520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04828"/>
                </a:solidFill>
                <a:latin typeface="Tahoma"/>
              </a:rPr>
              <a:t>Manufacturing Training Walk-through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6583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9626F"/>
                </a:solidFill>
                <a:latin typeface="Tahoma"/>
              </a:rPr>
              <a:t>UAT Database</a:t>
            </a:r>
          </a:p>
          <a:p>
            <a:r>
              <a:rPr sz="1600" b="0">
                <a:solidFill>
                  <a:srgbClr val="59626F"/>
                </a:solidFill>
                <a:latin typeface="Tahoma"/>
              </a:rPr>
              <a:t>Detailed click-by-click training</a:t>
            </a:r>
          </a:p>
          <a:p>
            <a:r>
              <a:rPr sz="1600" b="0">
                <a:solidFill>
                  <a:srgbClr val="59626F"/>
                </a:solidFill>
                <a:latin typeface="Tahoma"/>
              </a:rPr>
              <a:t>Plastic + Pharma + PO + Shop Floor + Mold + Costing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3657600" cy="502920"/>
          </a:xfrm>
          <a:prstGeom prst="roundRect">
            <a:avLst/>
          </a:prstGeom>
          <a:solidFill>
            <a:srgbClr val="E0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754880"/>
            <a:ext cx="3383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4828"/>
                </a:solidFill>
                <a:latin typeface="Tahoma"/>
              </a:rPr>
              <a:t>Real screenshots and real UAT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Training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Detailed session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789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78992"/>
            <a:ext cx="105704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316736"/>
            <a:ext cx="10533888" cy="4828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1. ภาพรวมระบบและแผนที่เอกสาร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2. Product, Routes, Min-Max และ BoM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3. Purchasing จาก shortage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4. Promotion / SO 0 บาท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5. SO -&gt; MTO และ MO จาก Replenishment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6. GMP Shop Floor, Work Order และ Scrap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7. Workcenter และ Mold Mapping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8. Transfer Plastic /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202938"/>
                </a:solidFill>
                <a:latin typeface="Tahoma"/>
              </a:rPr>
              <a:t>9. Invoice, Costing และ Closing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Home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ใช้หน้า Home
เป็นจุดตั้งต้นให้ผู้เรียนเห็นว่า flow
งานผลิตเชื่อมหลายแอป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สอนว่าถ้าต้อง trace ปัญหา
ต้องรู้ว่าแต่ละทีมเข้าเมนูไหน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เริ่มจากไอคอน Manufacturing
เพื่อเข้าเมนูหลักของงานผลิต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ใช้ Inventory เมื่อต้องตรวจ stock,
transfer, scrap และ reordering rule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 Purchase เมื่อต้องตาม RFQ หรือ PO
จากของที่ route เป็น Buy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GMP Shop Floor
เมื่อต้องดูงานหน้างานแบบ card และเปิด
console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ใช้ Accounting เมื่อต้องตาม invoice
และผลทางบัญชีปลายทาง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Manufacturing คือศูนย์กลางของ MO, WO, BoM
และ workcenter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Inventory คือที่ดู availability,
movements, locations และ min/max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Purchase คือที่ดูผลของ shortage ฝั่ง Buy
route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GMP Shop Floor
คือหน้าปฏิบัติการจริงสำหรับหัวหน้างานและ
operator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Accounting คือปลายทางของ sale invoice
และผลกระทบด้านบัญชี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Manufacturing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อธิบายโครงเมนู Manufacturing
และหน้าภาพรวมที่ planner กับ supervisor
ใช้เปิดทุกวัน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สอนให้ผู้เรียนเห็นความต่างระหว่างงานปฏิบัต
ิการ, planning และ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เข้า Overview เพื่อดูภาพรวม work center
และภาระงาน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ใช้เมนู Operations เมื่อต้องเจาะไป MO
หรือ WO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ใช้เมนู Products เมื่อต้องย้อนกลับไปดู
product หรือ BoM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ใช้เมนู Configuration เมื่อต้องแก้
workcenter, operation type หรือ master
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Overview
ใช้ดูภาระงานของเครื่องและสถานะงานแบบภาพรวม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Operations รวม MO, WO และ execution
documents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Products ใช้ดู product master, BoM และ
related 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Configuration ใช้ตั้งค่า workcenter,
operation type และ logic ต้นทางของระบบ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_manufactur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Product Master: FG-PSS-TH-01005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 finished good ตัวจริงใน UAT
เป็นตัวอย่างเพื่อสอนว่า product master คุม
flow หลายเรื่องพร้อมกัน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หน้าเดียวนี้เชื่อมไป inventory, bom, sale
และ costing 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เปิดสินค้าแล้วดูชื่อสินค้าและรหัสอ้างอิ
งให้ตรงกับของจริง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เช็ก smart buttons ด้านบน เช่น On Hand,
Forecasted และ Bill of Materials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Product Type และ Manufacturing Type
เพื่อยืนยันว่าสินค้านี้เป็นฝั่ง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Sales Price และ Cost เพื่อเข้าใจ
master data ฝั่งราคา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ดู Category และ Reference เพื่อใช้
trace category-based logic และ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Type ระบุว่าสินค้าเป็น storable
goods, service หรือ combo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Manufacturing Type ใช้แยก Plastic, Pharma
หรือ Packaging และพา flow ไป operation
type ที่ถูก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Track Inventory บอกว่าติดตามเป็น lot,
serial หรือไม่ติดตาม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Invoicing Policy บอกว่าจะ invoice ตาม
delivered หรือ ordered quantities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Sales Price เป็นราคาขายมาตรฐาน ส่วน Cost
เป็นต้นทุนอ้างอิง master 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Category และ Reference มีผลกับ route
inheritance, accounting และ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_product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Product Inventory &amp;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route ซึ่งเป็นหัวใจของคำถามว่า
ของขาดแล้วระบบจะไป MO หรือ 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ใช้หน้าจริงใน UAT เพื่อย้ำว่า FG
ตัวนี้เป็น MTS/Manufacture ไม่ใช่ sale-
driven MTO ตรง 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เข้าแท็บ Inventory ก่อนอธิบาย route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ดูรายการ Routes ที่ถูกติ๊กจริงบนสินค้า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 View Diagram เมื่อต้องอธิบาย logic
procurement ให้ผู้ใช้เห็นภาพ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Category Routes ด้านล่างเพื่ออธิบาย
route ที่ inherited มาจากระดับ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Routes คือ route ที่ product ตัวนี้ใช้จริง
เช่น Manufacture (Pharma), Buy หรือ
Replenish on Order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Category Routes คือ route ที่ inherited
จาก category หรือ warehouse rules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Responsible ใช้ระบุ owner ของข้อมูลหรือ
logistics responsibility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Lead Times ใช้ประกอบการวางแผนด้านเวลา
ไม่ได้เป็นตัว trigger procurement โดยตรง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Weight, Volume, Cartons และ DIMS สำคัญกับ
logistics และ shipping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b_product_fg_pss_th_01005_inventory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Products &gt; Inventory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Reordering Rule / Min-Max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MTS และ Min/Max จากข้อมูลจริงของ UAT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ทำให้ทีมเข้าใจว่าถ้าไม่ได้เริ่มจาก SO
ระบบจะสร้าง procurement จากจุดนี้อย่างไร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Reordering Rule ของสินค้าและ
location ที่ต้องการ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Min Quantity และ Max Quantity
ว่าระบบจะเติม stock อย่างไร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Route และ Trigger เพื่อเข้าใจว่าจะไป
Manufacture หรือ Buy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Forecast Description
เพื่อตามว่าความต้องการมาจากเอกสารไหน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Min Quantity
คือระดับต่ำสุดที่ยอมให้คงอยู่ใน location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Max Quantity
คือเป้าหมายที่ระบบจะเติมกลับไปหลังเห็น
shortage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Quantity Multiple
ใช้บังคับให้เติมเป็นล็อตคูณ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Route ของ orderpoint บอกว่าขาดแล้วจะไป MO
หรือ 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Trigger และ Forecast Description ช่วย
trace ว่าระบบยิง procurement เพราะอะไร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_reordering_rule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Configuration &gt; Reordering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BoM ของ FG จริงใน UAT เพื่ออธิบายว่า
MO ตัวแม่จะดึง component อะไรบ้าง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ใช้เป็นจุดเชื่อมไป child MO, ซื้อ
packaging และ route ของชิ้นส่วน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BoM ของสินค้าให้ถูกตัว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Components
ว่าสินค้าตัวแม่ต้องใช้ชิ้นส่วนอะไรบ้าง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สลับไปดู Operations
เมื่อต้องอธิบายขั้นตอนการผลิต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เปิด Miscellaneous เมื่อต้องดู
operation type หรือ field ประกอบอื่น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คือสินค้าที่ BoM นี้ใช้ผลิต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Quantity คือจำนวนมาตรฐานต่อหนึ่งชุดผลิต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BoM Type บอกว่าเป็น Manufacture this
product, Kit หรือ Subcontracting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Components table คือรายการวัตถุดิบหรือ
semi ที่ต้องใช้จริง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Operations คือขั้นตอนงานที่ไปสร้าง work
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bom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Bills of Materials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Workcenter Master: Injection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master data ของเครื่องจริงฝั่ง 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เป็นหน้าที่เชื่อม capacity, costing และ
machine-level setup เข้าด้วยกัน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workcenter ของเครื่องจริง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Is Mold? เพื่อแยกว่า record นี้เป็น
machine ไม่ใช่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Manufacturing Type, Capacity และ OEE
Target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Cost per hour และ cost per employee
เมื่อต้องสอนเรื่องต้นทุนเครื่อง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ดูแท็บ Compatibility Matrix
เพื่อเชื่อมไป mold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Work Center Name และ Code
ใช้อ้างอิงเครื่อง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Is Mold? ใช้แยก machine ออกจาก mold
แม้อยู่ model เดียวกัน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Manufacturing Type
ช่วยจัดกลุ่มเครื่องตามโรงงาน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Capacity, Time Efficiency และ OEE Target
ใช้วางแผนและวัดประสิทธิภาพ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Cost per hour และ per employee มีผลกับ
machine/labor costing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0_workcenter_injectio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Workcenter Compatibility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สอนฝั่ง machine ของ matrix
ว่าเครื่องนี้รับ mold อะไรได้บ้าง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เป็นแกนของการ auto suggest machine/mold
ฝั่ง plastic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เปิดแท็บ Compatibility Matrix
ของเครื่อง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ดูรายการ mold
ที่เครื่องนี้ใช้ร่วมกันได้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usage และ limit
เพื่อประเมินความเสี่ยงด้าน mold life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Add a line เมื่อต้องเพิ่ม
compatibility ใหม่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Work Center ในตารางคือ mold
ที่เครื่องนี้รองรับ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Mold Status บอกสถานะ Normal, Warning หรือ
Full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Usage คือจำนวน shots ที่ใช้ไปแล้ว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Limit คือ mold life limit
ที่เอาไว้เตือนการซ่อมบำรุง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0b_workcenter_injection5_compati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&gt; Compatibility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Mold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master data ของ mold
ที่มีผลกับต้นทุนและอายุการใช้งาน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ใช้หน้าจริงที่ตอนนี้โชว์ Is Mold?
แล้วเพื่ออธิบาย field สำคัญทุกตัว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mold record ที่ต้องการ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Is Mold? เพื่อยืนยันว่าระบบ treat
record นี้เป็น mold 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Mold Cost / Hour, Cavities และ Mold
Life Limit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Current Shots หรือ status
เพื่อเช็กการใช้งานสะสม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เปิด Mold Matrix เมื่อต้องดู product
และ machine compatibility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Is Mold? ต้องถูกติ๊ก มิฉะนั้น logic mold
จะไม่ทำงานครบ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Mold Cost / Hour ใช้คำนวณต้นทุน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Cavities ใช้ตีความ output ต่อหนึ่ง shot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Mold Life Limit ใช้ควบคุมอายุ mold
และเตือนบำรุงรักษา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Current Shots และ Mold Status
ใช้ติดตามการใช้งานสะสม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1_mold_upper_w01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(Mold)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Mold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สอนฝั่ง mold ของ matrix ซึ่งผูก Compatible
Machines และ Produced Products Efficiency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เป็นจุดที่ทำให้ระบบรู้ว่า mold
ตัวนี้ใช้กับสินค้าอะไรและเครื่องไหนได้บ้าง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เปิดแท็บ Mold Matrix บน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Compatible Machines ว่า mold
ตัวนี้ลงเครื่องไหนได้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Produced Products Efficiency
ว่าผลิตสินค้าอะไรได้บ้าง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Cycle Time และ Units / Hour
เพื่อใช้วางแผนและอธิบาย std/actual
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Compatible Machines
คือรายชื่อเครื่องที่ใช้ mold ตัวนี้ได้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คือสินค้าที่ mold นี้ผลิตได้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Cycle Time (s) คือเวลามาตรฐานต่อรอบ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Units / Hour
ใช้แปลความสามารถในการผลิตต่อชั่วโมง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สองตารางนี้รวมกันคือหัวใจของ auto mold
assignment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1b_mold_upper_w01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(Mold) &gt; Mold Matrix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Transfer Plastic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internal transfer ฝั่ง Plastic
จากเอกสารจริง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ใช้ยืนยันว่าระบบแยก operation type ฝั่ง
plastic ออกจาก pharma แล้ว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transfer ฝั่ง 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Operation Type ให้เป็น Transfer
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Source Location และ Destination
Location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ดูรายการสินค้าใน operations lines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ใช้ Validate เมื่อต้องยืนยัน movement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 Type ต้องเป็น Transfer 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Source/Destination Location
ระบุทิศทางการย้าย stock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Document ใช้ trace กลับไป MO ต้นทาง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Demand และ Quantity ช่วยเทียบ requirement
กับจำนวนที่ทำจริง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2_transfer_plastic_gmp_trpl_0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Transfers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Transfer Pharma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internal transfer ฝั่ง Pharma
และใช้เทียบกับ Plastic แบบเห็นภาพจริง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ช่วยอธิบายให้ warehouse
แยกเอกสารสองฝั่งได้ชัดเจน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transfer ฝั่ง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Operation Type ให้เป็น Transfer
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Source Document ว่ามาจากงานหรือ MO
ใด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operations lines
เพื่อเช็กสินค้าที่กำลังย้าย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 Type ต้องเป็น Transfer 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Document อาจรวมหลาย MO
หรือหลายงานที่ feed เข้ามาได้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Operations table
ใช้อ่านรายการสินค้าที่กำลังเคลื่อนย้าย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Status ช่วยบอกว่างานพร้อม, done
หรือยังต้องดำเนินการต่อ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3_transfer_pharma_gmp_trph_0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Transfers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Invoice &amp; Accounting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Accounting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สอนปลายทางด้านบัญชีของ flow หลัง sale และ
delivery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ทำให้ผู้เรียนเห็นว่าผลลัพธ์สุดท้ายของงานผล
ิตไม่ได้จบที่ MO แต่ไปถึง invoice
และรายได้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invoice จริงที่ออกจาก flow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Customer, Invoice Date และ Journal
ก่อน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Invoice Lines เพื่ออธิบาย product,
quantity, account และ taxes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ดูยอดรวมด้านล่างเพื่อยืนยัน untaxed,
VAT และ total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ดูสถานะ Posted
เพื่อยืนยันว่าพร้อมลงบัญชีจริงแล้ว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Customer, Invoice Date, Journal และ
Payment Terms คือ header หลักของ invoice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Invoice Lines ใช้ตรวจสินค้า ปริมาณ ราคา
ภาษี และ account ที่ระบบผูกมา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Analytic ใช้สำหรับ reporting
หรือกระจายรายได้/ต้นทุน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Untaxed, VAT และ Total
ใช้ยืนยันยอดปลายทางของเอกสาร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Posted คือสถานะพร้อมลงบัญชีจริง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4_invoice_inv_d_26_04_0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Accounting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Accounting &gt; Customers &gt; Invoices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Closing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What users should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789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078992"/>
            <a:ext cx="1057046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316736"/>
            <a:ext cx="10533888" cy="4828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Product Routes และ Manufacturing Type
ก่อนทุกครั้งที่ flow ไม่ไปต่อ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BoM และ child chain เมื่อ MO ไม่แตก
component หรือ child MO ตามที่คาด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Reordering Rule, Buy route และ vendor
เมื่อ shortage แล้ว PO ไม่เกิด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GMP Shop Floor, Work Order และ Scrap
page เมื่อปัญหาอยู่ที่ execution หน้างาน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Workcenter / Mold Matrix
เมื่อระบบเลือกเครื่องหรือ mold ไม่ถูก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Transfer Operation Type
เพื่อยืนยันว่าของวิ่งฝั่ง Plastic หรือ
Pharma ถูกต้อง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02938"/>
                </a:solidFill>
                <a:latin typeface="Tahoma"/>
              </a:rPr>
              <a:t>เช็ก Invoice, Valuation และ Journal
เมื่อจะตรวจผลทางบัญชีปลายทาง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Purchase Order from Shortage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Purchase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ใช้สอนว่าของขาดไม่ได้จบที่ MO ทุกกรณี ถ้า
component เป็น Buy route ต้องไป RFQ/PO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หน้า PO ทำให้ทีม Purchase
เข้าใจว่าตัวเองรับช่วงจาก planning อย่างไร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RFQ หรือ PO ที่เกิดจาก shortage
หรือ planning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Vendor และ Order Deadline
ก่อนทุกครั้ง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Order Lines ว่าสินค้าตัวไหน quantity
เท่าไรและ UoM อะไร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Confirm Order เมื่อต้องแปลงจาก RFQ
เป็น PO 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Vendor คือผู้ขายที่ต้องมีใน master
ไม่เช่นนั้น flow Buy จะไม่จบ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Deadline และ Expected Arrival
ใช้ประกอบการวางแผนรับของ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Document ช่วย trace กลับไป
shortage, requisition หรือ procurement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Lines แสดงสินค้า ปริมาณ ราคา ภาษี
และ analytic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9_po_p0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Purchase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Purchase &gt; Orders &gt; Requests for Quotation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Promotion / FOC Sales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Flow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flow ส่งเสริมการขายจาก SO จริงที่มี
free line อยู่ใน UAT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ใช้เป็นตัวอย่างว่า FOC ยังมี stock
movement และ downstream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SO ที่เป็น FOC flow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Delivery smart button เพื่อ trace ไป
transfer และ delivery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Order Lines ให้เห็น line ปกติกับ
line ฟรี [FREE]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ดูยอดรวมด้านล่างเพื่ออธิบายผลทางการขายแ
ม้มี free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Customer, Invoice Address และ Delivery
Address เป็นปลายทางของเอกสาร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 Type ใช้แยกประเภทการขายและ policy
เฉพาะทาง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Lines ต้องสังเกต line ฟรีที่ราคา 0
และ tag [FREE]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Amount, VAT และ Total
ใช้ตรวจว่ามูลค่าทางขายถูกคำนวณอย่างไร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Delivery smart button เป็นจุดเชื่อมไป
fulfillment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6_sale_foc_sob_263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Sales &gt; Orders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SO -&gt; MTO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Flow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demand ที่เริ่มจาก sale แล้ววิ่งต่อไป
production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ใช้เทียบกับ FOC เพื่อให้เห็นว่า UI
คล้ายกันแต่ intent ของ flow ต่างกัน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SO ที่ใช้เป็นตัวอย่าง MTO/MO
downstream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Delivery smart button เพื่อเชื่อมไป
picking ที่ระบบสร้างให้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Create Invoice
เมื่ออธิบายขั้นตอนสร้าง invoice จาก sale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ดู Order Lines และ delivered/invoiced
quantities เพื่อเทียบความคืบหน้า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Delivery smart button ใช้ trace picking
และ downstream inventory documents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Create Invoice ใช้สร้าง invoice ตาม policy
ของ flow นั้น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Order Lines แสดง quantity ordered,
delivered และ invoiced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Statusbar ช่วยอธิบาย lifecycle จาก
quotation ไป sales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_sale_mto_sob_263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Sales &gt; Orders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Manufacturing Order from Replenishment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Flow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 MO ที่เกิดจาก replenishment/Min-Max
ไม่ได้เกิดจาก SO โดยตรง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ใช้เป็นจุดรวมในการอธิบาย component
readiness, workorders, transfers และ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MO ที่เกิดจาก replenishment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Product, Quantity To Produce และ BoM
ที่ใช้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Component Status
ว่าวัตถุดิบพร้อมหรือไม่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smart buttons เช่น Transfers, Shop
Floor, MO Cost และ Workorders เพื่อ drill
down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เปิด Components tab เมื่อต้องสอน source
location และ quantity to consume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และ Quantity To Produce
คือสิ่งที่จะผลิตจริง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BoM ชี้กลับไป master data ต้นทางของงานนี้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Scheduled Date และ Scheduled End ใช้ประกอบ
planning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Component Status ช่วยประเมิน readiness
ก่อนเริ่มงานจริง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Components tab ใช้ตรวจ requirement
รายชิ้นและ source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8_mo_mts_gmp_moph_0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Operations &gt; Manufacturing Orders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GMP Shop Floor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สอนหน้ารวมงานหน้างานจริงที่หัวหน้างานใช้เป
ิดทุกวัน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ทำให้ผู้เรียนเห็น card-based execution
และจุดเข้า console ของแต่ละ 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เข้า GMP Shop Floor จากหน้า Home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ใช้แท็บ Dashboard, Plastic Shop Floor
และ Pharma Shop Floor เพื่อแยกมุมมองงาน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ใช้ Search และ filter
ด้านบนเพื่อหางานที่ต้องการ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กด Open Console บน card
ที่ต้องการเริ่มทำงาน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แต่ละ card แสดง MO, origin
และชื่อสินค้าที่กำลังผลิต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เป้าหมายคือ quantity target ของงานนั้น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Tasks แยกเป็น Ready, In Progress และ Done
เพื่อดูความคืบหน้า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Open Console คือจุดเข้า execution
ของหน้างานจริง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6_gmp_shop_flo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GMP Shop Floor &gt; Dashboard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 Order / Shop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สอนหน้ารายละเอียด work order ที่ operator
หรือ supervisor ใช้ดูการทำงานจริง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เป็นจุดที่เชื่อม machine, mold, quantity,
time tracking และเอกสารแม่เข้าด้วยกัน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 work order ที่ต้องการ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ดู Work Center และ Product ว่า
operation นี้ทำที่เครื่องไหนและผลิตอะไร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ดู Molds และ Mold Cost เมื่อเป็นงานฝั่ง
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ใช้ Manufacturing Order link
ย้อนกลับไปหาเอกสารแม่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ดู Time Tracking
เมื่อต้องอธิบายเวลาเริ่มงานและ
productivity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Work Center บอกว่า operation
นี้ทำที่เครื่องใด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และ Quantity
บอกว่ากำลังผลิตอะไรจำนวนเท่าไร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Molds และ Mold Cost สำคัญกับงาน plastic
และ costing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Expected Duration
คือเวลามาตรฐานที่ระบบคำนวณให้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Time Tracking ใช้ดู employee productivity,
start/end และเวลาจริง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5_workorder_operation_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Operations &gt; Work Orders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5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Scrap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108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86868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9418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179576"/>
            <a:ext cx="422452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ใช้เอกสาร scrap จริงที่สร้างบน UAT
เพื่อให้ training มี execution page ครบ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02938"/>
                </a:solidFill>
                <a:latin typeface="Tahoma"/>
              </a:rPr>
              <a:t>สอนว่าของเสียกระทบ stock
และเป็นเอกสารปฏิบัติการที่ต้อง trace 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4480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31343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ลำดับที่ต้องกด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551176"/>
            <a:ext cx="4224528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1. เปิดหน้าสร้าง Scrap หรือเอกสาร scrap
ที่มีอยู่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2. เลือก Product และ Quantity ที่ต้อง
scrap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3. เลือก Source Location และ Scrap
Location ให้ถูก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4. ระบุ Source Document หรือ Scrap Reason
ถ้ามี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202938"/>
                </a:solidFill>
                <a:latin typeface="Tahoma"/>
              </a:rPr>
              <a:t>5. กด Validate เพื่อยืนยัน movement ของ
scrap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4160520"/>
            <a:ext cx="4480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4233672"/>
            <a:ext cx="4261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4828"/>
                </a:solidFill>
                <a:latin typeface="Tahoma"/>
              </a:rPr>
              <a:t>Field และการทำงาน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4471416"/>
            <a:ext cx="4224528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Product คือสินค้าที่จะ scrap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Quantity ต้องเป็นจำนวนที่ต้องตัดออกจาก
stock 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Location คือที่ stock อยู่ก่อน
scrap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Scrap Location คือที่ปลายทางของของเสีย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Source Document
ใช้เชื่อมกับงานหรือเหตุผลที่เกี่ยวข้อง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19" b="0">
                <a:solidFill>
                  <a:srgbClr val="202938"/>
                </a:solidFill>
                <a:latin typeface="Tahoma"/>
              </a:rPr>
              <a:t>Replenish Quantities
ใช้เมื่อองค์กรต้องการให้ scrap ไปกระตุ้น
procurement เพิ่ม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868680"/>
            <a:ext cx="69037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7_scrap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978408"/>
            <a:ext cx="6684264" cy="51206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4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2468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6547104"/>
            <a:ext cx="8961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Scrap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