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2F4D"/>
                </a:solidFill>
                <a:latin typeface="Tahoma"/>
              </a:rPr>
              <a:t>MTS vs MTO ใน UAT</a:t>
            </a:r>
          </a:p>
          <a:p>
            <a:r>
              <a:rPr sz="1100" b="0">
                <a:solidFill>
                  <a:srgbClr val="5C6673"/>
                </a:solidFill>
                <a:latin typeface="Tahoma"/>
              </a:rPr>
              <a:t>เปรียบเทียบตามลำดับ Replenishment -&gt; Route -&gt; Rule -&gt; Operation Type -&gt; Putaway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0835640" cy="4892040"/>
          </a:xfrm>
          <a:prstGeom prst="roundRect">
            <a:avLst/>
          </a:prstGeom>
          <a:solidFill>
            <a:srgbClr val="F5F8FC"/>
          </a:solidFill>
          <a:ln>
            <a:solidFill>
              <a:srgbClr val="D0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ตัวอย่าง MTS: FG-PNC-TH-01001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ตัวอย่าง MTO: FG-MTK-IL-01001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ใช้เพื่ออธิบายว่าความต่างจริงอยู่ที่จุดเริ่ม demand และ chain ที่ระบบสร้าง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2F4D"/>
                </a:solidFill>
                <a:latin typeface="Tahoma"/>
              </a:rPr>
              <a:t>เลือกตัวอย่างจาก UAT อย่างไร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0835640" cy="4892040"/>
          </a:xfrm>
          <a:prstGeom prst="roundRect">
            <a:avLst/>
          </a:prstGeom>
          <a:solidFill>
            <a:srgbClr val="F5F8FC"/>
          </a:solidFill>
          <a:ln>
            <a:solidFill>
              <a:srgbClr val="D0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FG-PNC-TH-01001 มี orderpoint 175 ที่ GMP/Stock, trigger auto, ไม่มี MTO route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FG-MTK-IL-01001 มี route Replenish on Order (MTO) และไม่มี orderpoint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สองตัวนี้จึงแยกกันชัด: ตัวแรกเติม stock, ตัวหลังตอบสนองต่อ sales demand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2F4D"/>
                </a:solidFill>
                <a:latin typeface="Tahoma"/>
              </a:rPr>
              <a:t>MTS: FG-PNC-TH-01001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0835640" cy="4892040"/>
          </a:xfrm>
          <a:prstGeom prst="roundRect">
            <a:avLst/>
          </a:prstGeom>
          <a:solidFill>
            <a:srgbClr val="F5F8FC"/>
          </a:solidFill>
          <a:ln>
            <a:solidFill>
              <a:srgbClr val="D0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Replenishment = orderpoint 175 ที่ GMP/Stock, min 0, max 0, trigger auto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Route = Manufacture (Pharma)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Rule = 146, action manufacture, source GMP/Stock/คลังลอย, destination GMP/Stock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Operation Type = Manufacturing Pharma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Putaway = ใช้กับของที่เข้าคลังระหว่างทางหรือ component ที่รับเข้า ไม่ใช่ตัว trigger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2F4D"/>
                </a:solidFill>
                <a:latin typeface="Tahoma"/>
              </a:rPr>
              <a:t>MTO: FG-MTK-IL-01001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0835640" cy="4892040"/>
          </a:xfrm>
          <a:prstGeom prst="roundRect">
            <a:avLst/>
          </a:prstGeom>
          <a:solidFill>
            <a:srgbClr val="F5F8FC"/>
          </a:solidFill>
          <a:ln>
            <a:solidFill>
              <a:srgbClr val="D0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Replenishment = sales demand จาก SO ไม่ใช่ orderpoint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Route = Replenish on Order (MTO) + Manufacture (Pharma) + Auto Transfer Semi (Pharma)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Rule = 5 สำหรับ pull จากลูกค้า, 146 สำหรับผลิต, 144 สำหรับโอน semi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Operation Type = Pick, Transfer Pharma, Manufacturing Pharma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Putaway = มีผลกับ bought components และ semi ที่เข้าคลังระหว่างทาง ไม่ใช่ขา customer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2F4D"/>
                </a:solidFill>
                <a:latin typeface="Tahoma"/>
              </a:rPr>
              <a:t>ความต่างที่ต้องสอนทีมให้เห็น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0835640" cy="4892040"/>
          </a:xfrm>
          <a:prstGeom prst="roundRect">
            <a:avLst/>
          </a:prstGeom>
          <a:solidFill>
            <a:srgbClr val="F5F8FC"/>
          </a:solidFill>
          <a:ln>
            <a:solidFill>
              <a:srgbClr val="D0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MTS เริ่มจาก stock shortage ในคลัง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MTO เริ่มจาก sales demand ของลูกค้า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MTS มองปลายทางเป็นการเติมกลับเข้า stock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MTO มองปลายทางเป็นการตอบออเดอร์ และ supply chain จะถูกดึงย้อนกลับ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2F4D"/>
                </a:solidFill>
                <a:latin typeface="Tahoma"/>
              </a:rPr>
              <a:t>Rule และ Operation Type ที่เกี่ยวข้อง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0835640" cy="4892040"/>
          </a:xfrm>
          <a:prstGeom prst="roundRect">
            <a:avLst/>
          </a:prstGeom>
          <a:solidFill>
            <a:srgbClr val="F5F8FC"/>
          </a:solidFill>
          <a:ln>
            <a:solidFill>
              <a:srgbClr val="D0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Rule 146 -&gt; Manufacturing Pharma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Rule 145 -&gt; Transfer Plastic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Rule 144 -&gt; Transfer Pharma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Rule 7 -&gt; Buy / Receipts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Rule 5 -&gt; Pick ฝั่ง MTO จาก GMP/Stock ไป Customers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2F4D"/>
                </a:solidFill>
                <a:latin typeface="Tahoma"/>
              </a:rPr>
              <a:t>สรุปแบบภาษาหน้างาน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0835640" cy="4892040"/>
          </a:xfrm>
          <a:prstGeom prst="roundRect">
            <a:avLst/>
          </a:prstGeom>
          <a:solidFill>
            <a:srgbClr val="F5F8FC"/>
          </a:solidFill>
          <a:ln>
            <a:solidFill>
              <a:srgbClr val="D0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MTS = ของในคลังไม่พอ ระบบเติม stock ให้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MTO = ลูกค้าสั่งก่อน ระบบค่อยย้อนกลับไปหาของให้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อย่าดูแค่ชื่อ route ต้องดูว่า demand เริ่มจากไหนด้วย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63238"/>
                </a:solidFill>
                <a:latin typeface="Tahoma"/>
              </a:rPr>
              <a:t>เวลาระบบไม่ไปต่อ ให้ไล่ Trigger -&gt; Route -&gt; Rule -&gt; Operation Type -&gt; Putaway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