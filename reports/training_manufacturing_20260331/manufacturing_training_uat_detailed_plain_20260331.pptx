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1520B-E576-4E1F-8095-E3C416AAC59F}" v="55" dt="2026-03-31T10:37:03.094"/>
    <p1510:client id="{A0AC1732-2F07-48A3-87D2-00A58F33F8D3}" v="266" dt="2026-03-31T10:55:21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91440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789920" cy="7315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4828"/>
                </a:solidFill>
                <a:latin typeface="Tahoma"/>
              </a:rPr>
              <a:t>Manufacturing Training Walk-through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626F"/>
                </a:solidFill>
                <a:latin typeface="Tahoma"/>
              </a:rPr>
              <a:t>UAT Database</a:t>
            </a:r>
          </a:p>
          <a:p>
            <a:r>
              <a:rPr sz="1600" b="0">
                <a:solidFill>
                  <a:srgbClr val="59626F"/>
                </a:solidFill>
                <a:latin typeface="Tahoma"/>
              </a:rPr>
              <a:t>Detailed click-by-click training</a:t>
            </a:r>
          </a:p>
          <a:p>
            <a:r>
              <a:rPr sz="1600" b="0">
                <a:solidFill>
                  <a:srgbClr val="59626F"/>
                </a:solidFill>
                <a:latin typeface="Tahoma"/>
              </a:rPr>
              <a:t>Plastic + Pharma + PO + Shop Floor + Mold + Costing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Training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Detailed session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2364" y="822226"/>
            <a:ext cx="10900209" cy="555297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105704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316736"/>
            <a:ext cx="10533888" cy="2506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1.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ภาพรวมระบบ</a:t>
            </a:r>
            <a:br>
              <a:rPr lang="en-US" sz="1600" dirty="0">
                <a:solidFill>
                  <a:srgbClr val="202938"/>
                </a:solidFill>
                <a:latin typeface="Tahoma"/>
              </a:rPr>
            </a:br>
            <a:r>
              <a:rPr sz="1600" b="0" dirty="0">
                <a:solidFill>
                  <a:srgbClr val="202938"/>
                </a:solidFill>
                <a:latin typeface="Tahoma"/>
              </a:rPr>
              <a:t>2. Product, Routes, Min-Max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BoM</a:t>
            </a:r>
            <a:endParaRPr lang="en-US"/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3. Purchasing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4. </a:t>
            </a:r>
            <a:r>
              <a:rPr lang="th-TH" sz="1600" dirty="0">
                <a:solidFill>
                  <a:srgbClr val="202938"/>
                </a:solidFill>
                <a:latin typeface="Tahoma"/>
                <a:cs typeface="Cordia New"/>
              </a:rPr>
              <a:t>ส่งเสริมการขาย 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/ SO 0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บาท</a:t>
            </a:r>
            <a:endParaRPr sz="1600" b="0" dirty="0" err="1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5. SO -&gt; MTO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MO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จาก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Replenishment</a:t>
            </a:r>
            <a:endParaRPr sz="16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6. GMP Shop Floor, Work Order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Scrap</a:t>
            </a:r>
            <a:endParaRPr sz="16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7.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Workcenter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Mold Mapping</a:t>
            </a:r>
            <a:endParaRPr sz="16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8. Transfer Plastic /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 dirty="0">
                <a:solidFill>
                  <a:srgbClr val="202938"/>
                </a:solidFill>
                <a:latin typeface="Tahoma"/>
              </a:rPr>
              <a:t>9. Invoice, Costing </a:t>
            </a:r>
            <a:r>
              <a:rPr sz="16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600" b="0" dirty="0">
                <a:solidFill>
                  <a:srgbClr val="202938"/>
                </a:solidFill>
                <a:latin typeface="Tahoma"/>
              </a:rPr>
              <a:t> Closing Checklist</a:t>
            </a:r>
            <a:endParaRPr sz="16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239" y="574897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9967" y="648049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255" y="885793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 Home
เป็นจุดตั้งต้นให้ผู้เรียนเห็นว่า flow
งานผลิตเชื่อมหลายแอป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สอนว่าถ้าต้อง trace ปัญหา
ต้องรู้ว่าแต่ละทีมเข้าเมนูไหน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70" y="1808786"/>
            <a:ext cx="4590728" cy="2095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159" y="1790131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447" y="2027875"/>
            <a:ext cx="4224528" cy="1945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เริ่มจากไอคอน Manufacturing
เพื่อเข้าเมนูหลักของงานผลิต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 Inventory เมื่อต้องตรวจ stock,
transfer, scrap และ reordering rule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Purchase เมื่อต้องตาม RFQ หรือ PO
จากของที่ route เป็น Buy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GMP Shop Floor
เมื่อต้องดูงานหน้างานแบบ card และเปิด
console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ใช้ Accounting เมื่อต้องตาม invoice
และผลทางบัญชีปลายทาง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70" y="4013628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3967431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205175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คือศูนย์กลางของ MO, WO, BoM
และ workcenter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Inventory คือที่ดู availability,
movements, locations และ min/max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Purchase คือที่ดูผลของ shortage ฝั่ง Buy
route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GMP Shop Floor
คือหน้าปฏิบัติการจริงสำหรับหัวหน้างานและ
operator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Accounting คือปลายทางของ sale invoice
และผลกระทบด้านบัญชี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723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202938"/>
                </a:solidFill>
                <a:latin typeface="Tahoma"/>
              </a:rPr>
              <a:t>อธิบายโครงเมนู</a:t>
            </a:r>
            <a:r>
              <a:rPr sz="1000" b="0" dirty="0">
                <a:solidFill>
                  <a:srgbClr val="202938"/>
                </a:solidFill>
                <a:latin typeface="Tahoma"/>
              </a:rPr>
              <a:t> Manufacturing
</a:t>
            </a:r>
            <a:r>
              <a:rPr sz="1000" b="0" dirty="0" err="1">
                <a:solidFill>
                  <a:srgbClr val="202938"/>
                </a:solidFill>
                <a:latin typeface="Tahoma"/>
              </a:rPr>
              <a:t>และหน้าภาพรวมที่</a:t>
            </a:r>
            <a:r>
              <a:rPr sz="1000" b="0" dirty="0">
                <a:solidFill>
                  <a:srgbClr val="202938"/>
                </a:solidFill>
                <a:latin typeface="Tahoma"/>
              </a:rPr>
              <a:t> planner </a:t>
            </a:r>
            <a:r>
              <a:rPr sz="1000" b="0" dirty="0" err="1">
                <a:solidFill>
                  <a:srgbClr val="202938"/>
                </a:solidFill>
                <a:latin typeface="Tahoma"/>
              </a:rPr>
              <a:t>กับ</a:t>
            </a:r>
            <a:r>
              <a:rPr sz="1000" b="0" dirty="0">
                <a:solidFill>
                  <a:srgbClr val="202938"/>
                </a:solidFill>
                <a:latin typeface="Tahoma"/>
              </a:rPr>
              <a:t> supervisor
</a:t>
            </a:r>
            <a:r>
              <a:rPr sz="1000" b="0" dirty="0" err="1">
                <a:solidFill>
                  <a:srgbClr val="202938"/>
                </a:solidFill>
                <a:latin typeface="Tahoma"/>
              </a:rPr>
              <a:t>ใช้เปิดทุกวัน</a:t>
            </a:r>
            <a:endParaRPr lang="en-US" sz="1000" b="0" dirty="0" err="1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202938"/>
                </a:solidFill>
                <a:latin typeface="Tahoma"/>
              </a:rPr>
              <a:t>สอนให้ผู้เรียนเห็นความต่างระหว่าง</a:t>
            </a:r>
            <a:r>
              <a:rPr lang="th-TH" sz="1000" dirty="0">
                <a:solidFill>
                  <a:srgbClr val="202938"/>
                </a:solidFill>
                <a:latin typeface="Tahoma"/>
                <a:cs typeface="Cordia New"/>
              </a:rPr>
              <a:t>งานปฏิบต</a:t>
            </a:r>
            <a:r>
              <a:rPr sz="1000" b="0" dirty="0" err="1">
                <a:solidFill>
                  <a:srgbClr val="202938"/>
                </a:solidFill>
                <a:latin typeface="Tahoma"/>
              </a:rPr>
              <a:t>ิการ</a:t>
            </a:r>
            <a:r>
              <a:rPr sz="1000" b="0" dirty="0">
                <a:solidFill>
                  <a:srgbClr val="202938"/>
                </a:solidFill>
                <a:latin typeface="Tahoma"/>
              </a:rPr>
              <a:t>, planning </a:t>
            </a:r>
            <a:r>
              <a:rPr sz="10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000" b="0" dirty="0">
                <a:solidFill>
                  <a:srgbClr val="202938"/>
                </a:solidFill>
                <a:latin typeface="Tahoma"/>
              </a:rPr>
              <a:t> configuration</a:t>
            </a:r>
            <a:endParaRPr sz="10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9207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 Overview เพื่อดูภาพรวม work center
และภาระงาน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ใช้เมนู Operations เมื่อต้องเจาะไป MO
หรือ WO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ใช้เมนู Products เมื่อต้องย้อนกลับไปดู
product หรือ BoM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ใช้เมนู Configuration เมื่อต้องแก้
workcenter, operation type หรือ master
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Overview
ใช้ดูภาระงานของเครื่องและสถานะงานแบบภาพรวม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รวม MO, WO และ execution
documents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Products ใช้ดู product master, BoM และ
related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Configuration ใช้ตั้งค่า workcenter,
operation type และ logic ต้นทางของระบบ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2_manufactur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Master: FG-PSS-TH-01005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323" y="666704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5051" y="739856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339" y="977600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 finished good ตัวจริงใน UAT
เป็นตัวอย่างเพื่อสอนว่า product master คุม
flow หลายเรื่องพร้อมกัน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หน้าเดียวนี้เชื่อมไป inventory, bom, sale
และ costing 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364" y="1910619"/>
            <a:ext cx="4478989" cy="21329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786" y="1911050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074" y="219892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เปิดสินค้าแล้วดูชื่อสินค้าและรหัสอ้างอิ
งให้ตรงกับของจริง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เช็ก smart buttons ด้านบน เช่น On Hand,
Forecasted และ Bill of Materials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Product Type และ Manufacturing Type
เพื่อยืนยันว่าสินค้านี้เป็นฝั่ง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Sales Price และ Cost เพื่อเข้าใจ
master data ฝั่งราคา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 Category และ Reference เพื่อใช้
trace category-based logic และ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599" y="3912641"/>
            <a:ext cx="4388754" cy="2461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47" y="4040877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35" y="4278621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Type ระบุว่าสินค้าเป็น storable
goods, service หรือ combo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Type ใช้แยก Plastic, Pharma
หรือ Packaging และพา flow ไป operation
type ที่ถูก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Track Inventory บอกว่าติดตามเป็น lot,
serial หรือไม่ติดตาม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Invoicing Policy บอกว่าจะ invoice ตาม
delivered หรือ ordered quantities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Sales Price เป็นราคาขายมาตรฐาน ส่วน Cost
เป็นต้นทุนอ้างอิง master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Category และ Reference มีผลกับ route
inheritance, accounting และ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28579" y="675885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_product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Inventory &amp;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route ซึ่งเป็นหัวใจของคำถามว่า
ของขาดแล้วระบบจะไป MO หรือ 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ใช้หน้าจริงใน UAT เพื่อย้ำว่า FG
ตัวนี้เป็น MTS/Manufacture ไม่ใช่ sale-
driven MTO ตรง 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เข้าแท็บ Inventory ก่อนอธิบาย route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ดูรายการ Routes ที่ถูกติ๊กจริงบนสินค้า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View Diagram เมื่อต้องอธิบาย logic
procurement ให้ผู้ใช้เห็นภาพ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Category Routes ด้านล่างเพื่ออธิบาย
route ที่ inherited มาจากระดับ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03" y="4160520"/>
            <a:ext cx="4324489" cy="21952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Routes คือ route ที่ product ตัวนี้ใช้จริง
เช่น Manufacture (Pharma), Buy หรือ
Replenish on Order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Category Routes คือ route ที่ inherited
จาก category หรือ warehouse rules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Responsible ใช้ระบุ owner ของข้อมูลหรือ
logistics responsibility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Lead Times ใช้ประกอบการวางแผนด้านเวลา
ไม่ได้เป็นตัว trigger procurement โดยตรง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Weight, Volume, Cartons และ DIMS สำคัญกับ
logistics และ shipping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b_product_fg_pss_th_01005_inventory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 &gt; Inventory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Reordering Rule / Min-Max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MTS และ Min/Max จากข้อมูลจริงของ UAT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ทำให้ทีมเข้าใจว่าถ้าไม่ได้เริ่มจาก SO
ระบบจะสร้าง procurement จากจุดนี้อย่างไร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Reordering Rule ของสินค้าและ
location 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Min Quantity และ Max Quantity
ว่าระบบจะเติม stock อย่างไร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Route และ Trigger เพื่อเข้าใจว่าจะไป
Manufacture หรือ Buy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Forecast Description
เพื่อตามว่าความต้องการมาจากเอกสารไหน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503" y="4160520"/>
            <a:ext cx="4480560" cy="21952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Min Quantity
คือระดับต่ำสุดที่ยอมให้คงอยู่ใน location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Max Quantity
คือเป้าหมายที่ระบบจะเติมกลับไปหลังเห็น
shortage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Quantity Multiple
ใช้บังคับให้เติมเป็นล็อตคูณ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Route ของ orderpoint บอกว่าขาดแล้วจะไป MO
หรือ 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Trigger และ Forecast Description ช่วย
trace ว่าระบบยิง procurement เพราะอะไร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4_reordering_rule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Configuration &gt; Reordering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BoM ของ FG จริงใน UAT เพื่ออธิบายว่า
MO ตัวแม่จะดึง component อะไรบ้าง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ใช้เป็นจุดเชื่อมไป child MO, ซื้อ
packaging และ route ของชิ้นส่วน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BoM ของสินค้าให้ถูกตัว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Components
ว่าสินค้าตัวแม่ต้องใช้ชิ้นส่วนอะไรบ้าง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สลับไปดู Operations
เมื่อต้องอธิบายขั้นตอนการผลิต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เปิด Miscellaneous เมื่อต้องดู
operation type หรือ field ประกอบอื่น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คือสินค้าที่ BoM นี้ใช้ผลิต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Quantity คือจำนวนมาตรฐานต่อหนึ่งชุดผลิต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BoM Type บอกว่าเป็น Manufacture this
product, Kit หรือ Subcontracting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Components table คือรายการวัตถุดิบหรือ
semi ที่ต้องใช้จริง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คือขั้นตอนงานที่ไปสร้าง work
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5_bom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Bills of Materials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Master: Injection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master data ของเครื่องจริงฝั่ง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เป็นหน้าที่เชื่อม capacity, costing และ
machine-level setup เข้าด้วยกัน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workcenter ของเครื่องจริง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Is Mold? เพื่อแยกว่า record นี้เป็น
machine ไม่ใช่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Manufacturing Type, Capacity และ OEE
Target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Cost per hour และ cost per employee
เมื่อต้องสอนเรื่องต้นทุนเครื่อง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ดูแท็บ Compatibility Matrix
เพื่อเชื่อมไป mold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Work Center Name และ Code
ใช้อ้างอิงเครื่อง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Is Mold? ใช้แยก machine ออกจาก mold
แม้อยู่ model เดียวกัน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Type
ช่วยจัดกลุ่มเครื่องตามโรงงาน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Capacity, Time Efficiency และ OEE Target
ใช้วางแผนและวัดประสิทธิภาพ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Cost per hour และ per employee มีผลกับ
machine/labor costing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0_workcenter_injecti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Compatibility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สอนฝั่ง machine ของ matrix
ว่าเครื่องนี้รับ mold อะไรได้บ้าง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เป็นแกนของการ auto suggest machine/mold
ฝั่ง plastic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เปิดแท็บ Compatibility Matrix
ของเครื่อง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ดูรายการ mold
ที่เครื่องนี้ใช้ร่วมกันได้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usage และ limit
เพื่อประเมินความเสี่ยงด้าน mold life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Add a line เมื่อต้องเพิ่ม
compatibility 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Work Center ในตารางคือ mold
ที่เครื่องนี้รองรับ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Status บอกสถานะ Normal, Warning หรือ
Full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Usage คือจำนวน shots ที่ใช้ไปแล้ว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Limit คือ mold life limit
ที่เอาไว้เตือนการซ่อมบำรุง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0b_workcenter_injection5_compati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&gt; Compatibility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master data ของ mold
ที่มีผลกับต้นทุนและอายุการใช้งาน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ใช้หน้าจริงที่ตอนนี้โชว์ Is Mold?
แล้วเพื่ออธิบาย field สำคัญทุกตัว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mold record 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Is Mold? เพื่อยืนยันว่าระบบ treat
record นี้เป็น mold 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Mold Cost / Hour, Cavities และ Mold
Life Limit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Current Shots หรือ status
เพื่อเช็กการใช้งานสะสม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เปิด Mold Matrix เมื่อต้องดู product
และ machine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Is Mold? ต้องถูกติ๊ก มิฉะนั้น logic mold
จะไม่ทำงานครบ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Cost / Hour ใช้คำนวณต้นทุน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Cavities ใช้ตีความ output ต่อหนึ่ง shot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Life Limit ใช้ควบคุมอายุ mold
และเตือนบำรุงรักษา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Current Shots และ Mold Status
ใช้ติดตามการใช้งานสะสม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1_mold_upper_w01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สอนฝั่ง mold ของ matrix ซึ่งผูก Compatible
Machines และ Produced Products Efficiency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เป็นจุดที่ทำให้ระบบรู้ว่า mold
ตัวนี้ใช้กับสินค้าอะไรและเครื่องไหนได้บ้าง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เปิดแท็บ Mold Matrix บน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Compatible Machines ว่า mold
ตัวนี้ลงเครื่องไหนได้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Produced Products Efficiency
ว่าผลิตสินค้าอะไรได้บ้าง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Cycle Time และ Units / Hour
เพื่อใช้วางแผนและอธิบาย std/actual
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Compatible Machines
คือรายชื่อเครื่องที่ใช้ mold ตัวนี้ได้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คือสินค้าที่ mold นี้ผลิตได้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Cycle Time (s) คือเวลามาตรฐานต่อรอบ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Units / Hour
ใช้แปลความสามารถในการผลิตต่อชั่วโมง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สองตารางนี้รวมกันคือหัวใจของ auto mold
assignment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1b_mold_upper_w01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 &gt; Mold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Plastic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internal transfer ฝั่ง Plastic
จากเอกสารจริง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ใช้ยืนยันว่าระบบแยก operation type ฝั่ง
plastic ออกจาก pharma แล้ว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transfer ฝั่ง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Operation Type ให้เป็น Transfer
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Source Location และ Destination
Location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ดูรายการสินค้าใน operations lines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ใช้ Validate เมื่อต้องยืนยัน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 Type ต้องเป็น Transfer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Source/Destination Location
ระบุทิศทางการย้าย stock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ใช้ trace กลับไป MO ต้นทาง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Demand และ Quantity ช่วยเทียบ requirement
กับจำนวนที่ทำจริง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2_transfer_plastic_gmp_trpl_0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internal transfer ฝั่ง Pharma
และใช้เทียบกับ Plastic แบบเห็นภาพจริง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ช่วยอธิบายให้ warehouse
แยกเอกสารสองฝั่งได้ชัดเจน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transfer ฝั่ง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Operation Type ให้เป็น Transfer
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Source Document ว่ามาจากงานหรือ MO
ใด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operations lines
เพื่อเช็กสินค้าที่กำลังย้าย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 Type ต้องเป็น Transfer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อาจรวมหลาย MO
หรือหลายงานที่ feed เข้ามาได้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table
ใช้อ่านรายการสินค้าที่กำลังเคลื่อนย้าย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Status ช่วยบอกว่างานพร้อม, done
หรือยังต้องดำเนินการต่อ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3_transfer_pharma_gmp_trph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Invoice &amp; Accounting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สอนปลายทางด้านบัญชีของ flow หลัง sale และ
delivery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ทำให้ผู้เรียนเห็นว่าผลลัพธ์สุดท้ายของงานผล
ิตไม่ได้จบที่ MO แต่ไปถึง invoice
และรายได้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invoice จริงที่ออกจาก flow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Customer, Invoice Date และ Journal
ก่อน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Invoice Lines เพื่ออธิบาย product,
quantity, account และ taxes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ดูยอดรวมด้านล่างเพื่อยืนยัน untaxed,
VAT และ total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ดูสถานะ Posted
เพื่อยืนยันว่าพร้อมลงบัญชีจริงแล้ว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Customer, Invoice Date, Journal และ
Payment Terms คือ header หลักของ invoice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Invoice Lines ใช้ตรวจสินค้า ปริมาณ ราคา
ภาษี และ account ที่ระบบผูกมา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Analytic ใช้สำหรับ reporting
หรือกระจายรายได้/ต้นทุน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Untaxed, VAT และ Total
ใช้ยืนยันยอดปลายทางของเอกสาร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Posted คือสถานะพร้อมลงบัญชีจริง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4_invoice_inv_d_26_04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Accounting &gt; Customers &gt; Invoices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Closing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What users should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789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105704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316736"/>
            <a:ext cx="10533888" cy="482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Product Routes และ Manufacturing Type
ก่อนทุกครั้งที่ flow ไม่ไปต่อ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BoM และ child chain เมื่อ MO ไม่แตก
component หรือ child MO ตามที่คาด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Reordering Rule, Buy route และ vendor
เมื่อ shortage แล้ว PO ไม่เกิด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GMP Shop Floor, Work Order และ Scrap
page เมื่อปัญหาอยู่ที่ execution หน้างาน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Workcenter / Mold Matrix
เมื่อระบบเลือกเครื่องหรือ mold ไม่ถูก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Transfer Operation Type
เพื่อยืนยันว่าของวิ่งฝั่ง Plastic หรือ
Pharma ถูกต้อง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Invoice, Valuation และ Journal
เมื่อจะตรวจผลทางบัญชีปลายทาง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Purchase Order from Shortage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Purchase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ใช้สอนว่าของขาดไม่ได้จบที่ MO ทุกกรณี ถ้า
component เป็น Buy route ต้องไป RFQ/PO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หน้า PO ทำให้ทีม Purchase
เข้าใจว่าตัวเองรับช่วงจาก planning อย่างไร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RFQ หรือ PO ที่เกิดจาก shortage
หรือ 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Vendor และ Order Deadline
ก่อนทุกครั้ง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Order Lines ว่าสินค้าตัวไหน quantity
เท่าไรและ UoM อะไร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Confirm Order เมื่อต้องแปลงจาก RFQ
เป็น PO 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Vendor คือผู้ขายที่ต้องมีใน master
ไม่เช่นนั้น flow Buy จะไม่จบ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Deadline และ Expected Arrival
ใช้ประกอบการวางแผนรับของ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ช่วย trace กลับไป
shortage, requisition หรือ procurement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แสดงสินค้า ปริมาณ ราคา ภาษี
และ analytic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9_po_p0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Purchase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Purchase &gt; Orders &gt; Requests for Quotation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Promotion / FOC Sales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flow ส่งเสริมการขายจาก SO จริงที่มี
free line อยู่ใน UAT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ใช้เป็นตัวอย่างว่า FOC ยังมี stock
movement และ downstream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SO ที่เป็น FOC flow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Delivery smart button เพื่อ trace ไป
transfer และ delivery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Order Lines ให้เห็น line ปกติกับ
line ฟรี [FREE]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ดูยอดรวมด้านล่างเพื่ออธิบายผลทางการขายแ
ม้มี free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Customer, Invoice Address และ Delivery
Address เป็นปลายทางของเอกสาร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 Type ใช้แยกประเภทการขายและ policy
เฉพาะทาง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ต้องสังเกต line ฟรีที่ราคา 0
และ tag [FREE]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Amount, VAT และ Total
ใช้ตรวจว่ามูลค่าทางขายถูกคำนวณอย่างไร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Delivery smart button เป็นจุดเชื่อมไป
fulfillment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6_sale_foc_sob_263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SO -&gt; MTO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demand ที่เริ่มจาก sale แล้ววิ่งต่อไป
production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ใช้เทียบกับ FOC เพื่อให้เห็นว่า UI
คล้ายกันแต่ intent ของ flow ต่างกัน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SO ที่ใช้เป็นตัวอย่าง MTO/MO
downstream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Delivery smart button เพื่อเชื่อมไป
picking ที่ระบบสร้างให้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Create Invoice
เมื่ออธิบายขั้นตอนสร้าง invoice จาก sale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Order Lines และ delivered/invoiced
quantities เพื่อเทียบความคืบหน้า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Delivery smart button ใช้ trace picking
และ downstream inventory documents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Create Invoice ใช้สร้าง invoice ตาม policy
ของ flow นั้น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แสดง quantity ordered,
delivered และ invoiced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Statusbar ช่วยอธิบาย lifecycle จาก
quotation ไป sales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7_sale_mto_sob_263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Order from Replenishment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MO ที่เกิดจาก replenishment/Min-Max
ไม่ได้เกิดจาก SO โดยตรง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ใช้เป็นจุดรวมในการอธิบาย component
readiness, workorders, transfers และ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MO ที่เกิดจาก replenishment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Product, Quantity To Produce และ BoM
ที่ใช้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Component Status
ว่าวัตถุดิบพร้อมหรือไม่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smart buttons เช่น Transfers, Shop
Floor, MO Cost และ Workorders เพื่อ drill
down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เปิด Components tab เมื่อต้องสอน source
location และ quantity to consume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และ Quantity To Produce
คือสิ่งที่จะผลิตจริง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BoM ชี้กลับไป master data ต้นทางของงานนี้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Scheduled Date และ Scheduled End ใช้ประกอบ
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 Status ช่วยประเมิน readiness
ก่อนเริ่มงานจริง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Components tab ใช้ตรวจ requirement
รายชิ้นและ source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8_mo_mts_gmp_moph_0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Operations &gt; Manufacturing Orders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GMP Shop Floor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สอนหน้ารวมงานหน้างานจริงที่หัวหน้างานใช้เป
ิดทุกวัน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ทำให้ผู้เรียนเห็น card-based execution
และจุดเข้า console ของแต่ละ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 GMP Shop Floor จากหน้า Home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ใช้แท็บ Dashboard, Plastic Shop Floor
และ Pharma Shop Floor เพื่อแยกมุมมองงาน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Search และ filter
ด้านบนเพื่อหางานที่ต้องการ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กด Open Console บน card
ที่ต้องการเริ่มทำงาน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แต่ละ card แสดง MO, origin
และชื่อสินค้าที่กำลังผลิต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เป้าหมายคือ quantity target ของงานนั้น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Tasks แยกเป็น Ready, In Progress และ Done
เพื่อดูความคืบหน้า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Open Console คือจุดเข้า execution
ของหน้างานจริง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6_gmp_shop_flo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GMP Shop Floor &gt;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6217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ahoma"/>
              </a:rPr>
              <a:t>Work Order / Shop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5616" y="109728"/>
            <a:ext cx="76014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2005" y="567891"/>
            <a:ext cx="12190796" cy="59067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9012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787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202938"/>
                </a:solidFill>
                <a:latin typeface="Tahoma"/>
              </a:rPr>
              <a:t>สอนหน้ารายละเอียด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work order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ที่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operator
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หรือ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supervisor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ใช้ดูการทำงานจริง</a:t>
            </a:r>
            <a:endParaRPr lang="en-US"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202938"/>
                </a:solidFill>
                <a:latin typeface="Tahoma"/>
              </a:rPr>
              <a:t>เป็นจุดที่เชื่อม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machine, mold, quantity,
time tracking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และเอกสารแม่เข้าด้วยกัน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171" y="1892327"/>
            <a:ext cx="8819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190229"/>
            <a:ext cx="4224528" cy="991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1.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เปิด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work order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ที่ต้องการ</a:t>
            </a:r>
            <a:endParaRPr lang="en-US"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2.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ดู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Work Center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Product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ว่า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operation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นี้ทำที่เครื่องไหนและผลิตอะไร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3.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ดู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Molds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Mold Cost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เมื่อเป็นงานฝั่ง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plastic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4.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ใช้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Manufacturing Order link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ย้อนกลับไปหาเอกสารแม่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5.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ดู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Time Tracking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เมื่อต้องอธิบายเวลาเริ่มงานและ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productivity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170" y="3431567"/>
            <a:ext cx="13724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04828"/>
                </a:solidFill>
                <a:latin typeface="Tahoma"/>
              </a:rPr>
              <a:t>Field </a:t>
            </a:r>
            <a:r>
              <a:rPr sz="1400" b="1" dirty="0" err="1">
                <a:solidFill>
                  <a:srgbClr val="104828"/>
                </a:solidFill>
                <a:latin typeface="Tahoma"/>
              </a:rPr>
              <a:t>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3739495"/>
            <a:ext cx="4224528" cy="991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Work Center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บอกว่า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operation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นี้ทำที่เครื่องใด</a:t>
            </a:r>
            <a:endParaRPr lang="en-US" sz="1100" b="0" dirty="0" err="1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Product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Quantity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บอกว่ากำลังผลิตอะไรจำนวนเท่าไร</a:t>
            </a:r>
            <a:endParaRPr sz="1100" b="0" dirty="0" err="1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Molds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Mold Cost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สำคัญกับงาน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plastic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costing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Expected Duration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คือเวลามาตรฐานที่ระบบคำนวณให้</a:t>
            </a:r>
            <a:endParaRPr sz="1100" b="0" dirty="0" err="1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Time Tracking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ใช้ดู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employee productivity,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start/end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และเวลาจริง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15" name="Picture 14" descr="15_workorder_operation_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85311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023" y="6547104"/>
            <a:ext cx="278473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Tahoma"/>
              </a:rPr>
              <a:t>Manufacturing &gt; Operations &gt; Work Orders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Scrap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2005" y="567891"/>
            <a:ext cx="4941770" cy="59768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90120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 err="1">
                <a:solidFill>
                  <a:srgbClr val="104828"/>
                </a:solidFill>
                <a:latin typeface="Tahoma"/>
              </a:rPr>
              <a:t>หน้าที่ของหน้า</a:t>
            </a:r>
            <a:endParaRPr lang="en-US" sz="1400" b="1" dirty="0" err="1">
              <a:solidFill>
                <a:srgbClr val="10482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669" y="1249760"/>
            <a:ext cx="4224528" cy="787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202938"/>
                </a:solidFill>
                <a:latin typeface="Tahoma"/>
              </a:rPr>
              <a:t>ใช้เอกสาร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จริงที่สร้างบน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UAT
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เพื่อให้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training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มี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execution page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ครบ</a:t>
            </a:r>
            <a:endParaRPr lang="en-US"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202938"/>
                </a:solidFill>
                <a:latin typeface="Tahoma"/>
              </a:rPr>
              <a:t>สอนว่าของเสียกระทบ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stock
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และเป็นเอกสารปฏิบัติการที่ต้อง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trace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ได้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8354" y="2062774"/>
            <a:ext cx="881973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 err="1">
                <a:solidFill>
                  <a:srgbClr val="104828"/>
                </a:solidFill>
                <a:latin typeface="Tahoma"/>
              </a:rPr>
              <a:t>ลำดับที่ต้องกด</a:t>
            </a:r>
            <a:endParaRPr lang="en-US" sz="1400" b="1" dirty="0" err="1">
              <a:solidFill>
                <a:srgbClr val="10482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6590" y="2340623"/>
            <a:ext cx="4224528" cy="1992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1.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เปิดหน้าสร้าง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หรือเอกสาร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
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ที่มีอยู่</a:t>
            </a:r>
            <a:endParaRPr lang="en-US"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2.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เลือก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Product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Quantity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ที่ต้อง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
scrap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3.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เลือก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Source Location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และ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
Location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ให้ถูก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4.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ระบุ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Source Document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หรือ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 Reason
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ถ้ามี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5.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กด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Validate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เพื่อยืนยัน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movement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ของ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
scrap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194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Product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คือสินค้าที่จะ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</a:t>
            </a:r>
            <a:endParaRPr lang="en-US"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Quantity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ต้องเป็นจำนวนที่ต้องตัดออกจาก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stock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จริง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Source Location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คือที่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stock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อยู่ก่อน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scrap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Scrap Location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คือที่ปลายทางของของเสีย</a:t>
            </a:r>
            <a:endParaRPr sz="1100" b="0" dirty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Source Document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ใช้เชื่อมกับงานหรือเหตุผลที่เกี่ยวข้อง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202938"/>
                </a:solidFill>
                <a:latin typeface="Tahoma"/>
              </a:rPr>
              <a:t>Replenish Quantities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ใช้เมื่อองค์กรต้องการให้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 scrap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ไปกระตุ้น</a:t>
            </a:r>
            <a:r>
              <a:rPr lang="en-US" sz="1100" dirty="0">
                <a:solidFill>
                  <a:srgbClr val="202938"/>
                </a:solidFill>
                <a:latin typeface="Tahoma"/>
              </a:rPr>
              <a:t> </a:t>
            </a:r>
            <a:r>
              <a:rPr sz="1100" b="0" dirty="0">
                <a:solidFill>
                  <a:srgbClr val="202938"/>
                </a:solidFill>
                <a:latin typeface="Tahoma"/>
              </a:rPr>
              <a:t>procurement </a:t>
            </a:r>
            <a:r>
              <a:rPr sz="1100" b="0" dirty="0" err="1">
                <a:solidFill>
                  <a:srgbClr val="202938"/>
                </a:solidFill>
                <a:latin typeface="Tahoma"/>
              </a:rPr>
              <a:t>เพิ่ม</a:t>
            </a:r>
            <a:endParaRPr sz="1100" b="0">
              <a:solidFill>
                <a:srgbClr val="202938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7_scrap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Scrap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93</cp:revision>
  <dcterms:created xsi:type="dcterms:W3CDTF">2013-01-27T09:14:16Z</dcterms:created>
  <dcterms:modified xsi:type="dcterms:W3CDTF">2026-03-31T13:35:34Z</dcterms:modified>
  <cp:category/>
</cp:coreProperties>
</file>