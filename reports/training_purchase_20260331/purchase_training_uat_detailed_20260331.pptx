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Odoo 18 Purchase Training Walk-through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UAT Database - TheCool 18e</a:t>
            </a:r>
          </a:p>
          <a:p>
            <a:r>
              <a:t>Detailed click-by-click training</a:t>
            </a:r>
          </a:p>
          <a:p>
            <a:r>
              <a:t>RM + Scrap + Assets + Consumables +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TRAINING AGENDA (3 HOURS)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058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600">
                <a:solidFill>
                  <a:srgbClr val="1E3A8A"/>
                </a:solidFill>
              </a:defRPr>
            </a:pPr>
            <a:r>
              <a:t>Agenda Details</a:t>
            </a:r>
          </a:p>
          <a:p>
            <a:pPr>
              <a:spcBef>
                <a:spcPts val="200"/>
              </a:spcBef>
              <a:defRPr sz="1400">
                <a:solidFill>
                  <a:srgbClr val="202938"/>
                </a:solidFill>
              </a:defRPr>
            </a:pPr>
            <a:r>
              <a:t>• 1. Setting &amp; Master Data (Category, Vendor, Accounting)</a:t>
            </a:r>
          </a:p>
          <a:p>
            <a:pPr>
              <a:spcBef>
                <a:spcPts val="200"/>
              </a:spcBef>
              <a:defRPr sz="1400">
                <a:solidFill>
                  <a:srgbClr val="202938"/>
                </a:solidFill>
              </a:defRPr>
            </a:pPr>
            <a:r>
              <a:t>• 2. Flow 1: Raw Material (PR -&gt; PO -&gt; Receipt with Lot -&gt; Scrap)</a:t>
            </a:r>
          </a:p>
          <a:p>
            <a:pPr>
              <a:spcBef>
                <a:spcPts val="200"/>
              </a:spcBef>
              <a:defRPr sz="1400">
                <a:solidFill>
                  <a:srgbClr val="202938"/>
                </a:solidFill>
              </a:defRPr>
            </a:pPr>
            <a:r>
              <a:t>• 3. Flow 2: Asset Management (PR -&gt; Asset Location -&gt; Bill -&gt; Asset Category)</a:t>
            </a:r>
          </a:p>
          <a:p>
            <a:pPr>
              <a:spcBef>
                <a:spcPts val="200"/>
              </a:spcBef>
              <a:defRPr sz="1400">
                <a:solidFill>
                  <a:srgbClr val="202938"/>
                </a:solidFill>
              </a:defRPr>
            </a:pPr>
            <a:r>
              <a:t>• 4. Flow 3: Consumables (PR -&gt; Analytic -&gt; Stock Receipt $0)</a:t>
            </a:r>
          </a:p>
          <a:p>
            <a:pPr>
              <a:spcBef>
                <a:spcPts val="200"/>
              </a:spcBef>
              <a:defRPr sz="1400">
                <a:solidFill>
                  <a:srgbClr val="202938"/>
                </a:solidFill>
              </a:defRPr>
            </a:pPr>
            <a:r>
              <a:t>• 5. Flow 4: Services (PO -&gt; Service Entry -&gt; Bill)</a:t>
            </a:r>
          </a:p>
          <a:p>
            <a:pPr>
              <a:spcBef>
                <a:spcPts val="200"/>
              </a:spcBef>
              <a:defRPr sz="1400">
                <a:solidFill>
                  <a:srgbClr val="202938"/>
                </a:solidFill>
              </a:defRPr>
            </a:pPr>
            <a:r>
              <a:t>• 6. Accounting E2E &amp; Closing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HOME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OPENING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ใช้หน้า Home เป็นจุดตั้งต้นให้เห็นแอปที่เกี่ยวข้อง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งานจัดซื้อไม่ได้จบที่ PO แต่ต้องเชื่อมโยงไปถึงการรับของและจ่ายเงิน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เข้าแอป Purchase เพื่อจัดการ PR/PO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เข้าแอป Inventory เพื่อรับของและเช็กสต็อก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3. เข้าแอป Accounting เพื่อเปิด Bill และเช็ก Journal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Purchase: จุดเริ่มต้นเอกสารจัดซื้อ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Inventory: ประตูปฏิบัติการรับสินค้า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Accounting: ปลายทางของการเงินจากงานจัดซื้อ</a:t>
            </a:r>
          </a:p>
        </p:txBody>
      </p:sp>
      <p:pic>
        <p:nvPicPr>
          <p:cNvPr id="7" name="Picture 6" descr="01_ho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 CATEGORY: RAW MATERIALS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MASTER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สอนการตั้งค่าบัญชีในระดับ Category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ถ้าไม่ตั้งเป็น Automated บัญชีจะไม่เกิด Journal Entry ตอนรับของ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ตรวจสอบ Costing Method ให้เป็น Average Cost (AVCO)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ตรวจสอบ Inventory Valuation ให้เป็น Automated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Costing Method: วิธีคำนวณต้นทุนสินค้า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Inventory Valuation: ระบบลงบัญชีคลังอัตโนมัติ</a:t>
            </a:r>
          </a:p>
        </p:txBody>
      </p:sp>
      <p:pic>
        <p:nvPicPr>
          <p:cNvPr id="7" name="Picture 6" descr="02_product_category_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VENDOR MASTER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MASTER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ระบุข้อมูลผู้ขายให้ครบถ้วนเพื่อ flow จัดซื้อและบัญชี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ตรวจสอบ Payment Terms ในแท็บ Purchase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ตรวจสอบ Bank Account ในแท็บ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Payment Terms: กำหนดรอบการจ่ายเงิน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Bank Accounts: ช่องทางจ่ายเงินของแผนกการเงิน</a:t>
            </a:r>
          </a:p>
        </p:txBody>
      </p:sp>
      <p:pic>
        <p:nvPicPr>
          <p:cNvPr id="7" name="Picture 6" descr="03_vendor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CREATE PURCHASE REQUISITION (PR)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1: RM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สร้างใบขอซื้อภายในแผนกก่อนส่งให้จัดซื้อ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กดปุ่ม New เพื่อสร้างใบใหม่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เลือกสินค้าประเภท Storable และใส่จำนวน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3. ระบุ Analytic Account เพื่อจัดเก็บต้นทุนรายแผนก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Product: สินค้าที่จะซื้อ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Quantity: จำนวนที่ขอซื้อ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Analytic Account: แผนกที่ขอใช้</a:t>
            </a:r>
          </a:p>
        </p:txBody>
      </p:sp>
      <p:pic>
        <p:nvPicPr>
          <p:cNvPr id="7" name="Picture 6" descr="04_create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APPROVE PR &amp; CREATE RFQ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1: RM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หัวหน้างานอนุมัติและส่งต่อให้งานจัดซื้อ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กด Approve (สำหรับหัวหน้า)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กด Create RFQ เพื่อสร้างใบขอเสนอราคา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Status: เปลี่ยนเป็น Approved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RFQ: ใบเสนอราคาที่เชื่อมโยงกับ PR</a:t>
            </a:r>
          </a:p>
        </p:txBody>
      </p:sp>
      <p:pic>
        <p:nvPicPr>
          <p:cNvPr id="7" name="Picture 6" descr="05_approve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CONFIRM PO &amp; RECEIPT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1: RM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ยืนยันการสั่งซื้อและเตรียมรับของ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กด Confirm Order เพื่อเปลี่ยน RFQ เป็น PO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สังเกต Smart Button 'Receipt' ที่ปรากฎขึ้น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Status: เปลี่ยนจาก RFQ เป็น Purchase Order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Receipt: ทางเข้างานคลัง</a:t>
            </a:r>
          </a:p>
        </p:txBody>
      </p:sp>
      <p:pic>
        <p:nvPicPr>
          <p:cNvPr id="7" name="Picture 6" descr="06_confirm_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DETAILED OPERATIONS &amp; 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1: RM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รับของเข้าคลังพร้อมระบุ Lot สำหรับ 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กดไอคอนรายการ (Detailed Operations)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ใส่เลข Lot/Serial Number ของสินค้า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Done: จำนวนที่รับจริง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Lot Number: เลขกำกับสินค้าเพื่อ traceability</a:t>
            </a:r>
          </a:p>
        </p:txBody>
      </p:sp>
      <p:pic>
        <p:nvPicPr>
          <p:cNvPr id="7" name="Picture 6" descr="07_receipt_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SCRAP WAREHOUSE OPERATION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1: RM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ตัดสต็อกสินค้าที่เสียหรือใช้งานไม่ได้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เลือกสินค้าและใส่ Lot ที่รับมา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กด Validate เพื่อยืนยันการตัดทำลาย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Scrap Location: คลังเสมือนสำหรับของเสีย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Quantity: จำนวนที่ทำลาย</a:t>
            </a:r>
          </a:p>
        </p:txBody>
      </p:sp>
      <p:pic>
        <p:nvPicPr>
          <p:cNvPr id="7" name="Picture 6" descr="08_scrap_op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ASSET PR &amp; ANALYTIC ACCOUNT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2: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ขอซื้อทรัพย์สินและระบุผู้รับผิดชอบ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เลือกสินค้าที่เป็น Asset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ระบุ Analytic Account ของแผนก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Analytic Account: ใช้กระจายต้นทุนเข้าศูนย์กำไร/ค่าใช้จ่าย</a:t>
            </a:r>
          </a:p>
        </p:txBody>
      </p:sp>
      <p:pic>
        <p:nvPicPr>
          <p:cNvPr id="7" name="Picture 6" descr="09_asset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ASSET DESTINATION 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2: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รับของ Asset เข้าคลังเฉพาะทาง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แก้ไข Destination Location ให้เป็นคลัง Asset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Destination Location: สถานที่เก็บทรัพย์สิน</a:t>
            </a:r>
          </a:p>
        </p:txBody>
      </p:sp>
      <p:pic>
        <p:nvPicPr>
          <p:cNvPr id="7" name="Picture 6" descr="10_asset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VENDOR BILL &amp; ASSET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2: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บันทึกหนี้และสร้าง Asset Record อัตโนมัติ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กด Create Bill ในหน้า PO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ตรวจสอบ Account และ Asset Category ในบรรทัด Bill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Asset Category: หมวดทรัพย์สินเพื่อคำนวณค่าเสื่อม</a:t>
            </a:r>
          </a:p>
        </p:txBody>
      </p:sp>
      <p:pic>
        <p:nvPicPr>
          <p:cNvPr id="7" name="Picture 6" descr="11_asset_b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CONSUMABLES PR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3: CONSUMABLES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ขอซื้อวัสดุสิ้นเปลือง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เลือกสินค้าประเภท Consumable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ระบุ Analytic Account ของผู้ใช้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Product Type: Consumable (ไม่เก็บมูลค่าคงค้าง)</a:t>
            </a:r>
          </a:p>
        </p:txBody>
      </p:sp>
      <p:pic>
        <p:nvPicPr>
          <p:cNvPr id="7" name="Picture 6" descr="12_consumable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CONSUMABLE RECEIPT ($0 VALUE)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3: CONSUMABLES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รับของสิ้นเปลืองเข้าคลัง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กด Validate รับของปกติ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Valuation: สังเกตว่ายอดเงินจะเป็น 0 ในคลัง</a:t>
            </a:r>
          </a:p>
        </p:txBody>
      </p:sp>
      <p:pic>
        <p:nvPicPr>
          <p:cNvPr id="7" name="Picture 6" descr="13_consumable_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SERVICE PROJECT/LABOR PO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4: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จ้างงานบริการหรือค่าแรง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เลือกสินค้าประเภท Service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2. ตรวจสอบ Invoicing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Service: สินค้าที่ไม่มีตัวตน</a:t>
            </a:r>
          </a:p>
        </p:txBody>
      </p:sp>
      <p:pic>
        <p:nvPicPr>
          <p:cNvPr id="7" name="Picture 6" descr="14_service_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SERVICE ENTRY (RECEIVED QTY)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FLOW 4: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ยืนยันการรับบริการจริง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ใส่จำนวนงานที่เสร็จในช่อง Received Qty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Received Qty: จำนวนที่ผู้สั่งจ้างยืนยันว่าได้รับแล้ว</a:t>
            </a:r>
          </a:p>
        </p:txBody>
      </p:sp>
      <p:pic>
        <p:nvPicPr>
          <p:cNvPr id="7" name="Picture 6" descr="15_service_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VENDOR BILL JOURNAL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Purpose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ตรวจสอบผลกระทบทางบัญชี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377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Clicks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1. เปิดแท็บ Journal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2976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E3A8A"/>
                </a:solidFill>
              </a:defRPr>
            </a:pPr>
            <a:r>
              <a:t>Fields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Debit/Credit: รายการบัญชีคู่</a:t>
            </a:r>
          </a:p>
          <a:p>
            <a:pPr>
              <a:spcBef>
                <a:spcPts val="200"/>
              </a:spcBef>
              <a:defRPr sz="1100">
                <a:solidFill>
                  <a:srgbClr val="202938"/>
                </a:solidFill>
              </a:defRPr>
            </a:pPr>
            <a:r>
              <a:t>• Account: ผังบัญชีที่ถูกใช้</a:t>
            </a:r>
          </a:p>
        </p:txBody>
      </p:sp>
      <p:pic>
        <p:nvPicPr>
          <p:cNvPr id="7" name="Picture 6" descr="16_vendor_bill_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315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CLOSING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7315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WRAP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058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800">
                <a:solidFill>
                  <a:srgbClr val="1E3A8A"/>
                </a:solidFill>
              </a:defRPr>
            </a:pPr>
            <a:r>
              <a:t>Key Takeaways</a:t>
            </a:r>
          </a:p>
          <a:p>
            <a:pPr>
              <a:spcBef>
                <a:spcPts val="200"/>
              </a:spcBef>
              <a:defRPr sz="1600">
                <a:solidFill>
                  <a:srgbClr val="202938"/>
                </a:solidFill>
              </a:defRPr>
            </a:pPr>
            <a:r>
              <a:t>• ตรวจสอบสถานะการรับของ (Receipt) ให้ครบ 100% ก่อนทำ Bill</a:t>
            </a:r>
          </a:p>
          <a:p>
            <a:pPr>
              <a:spcBef>
                <a:spcPts val="200"/>
              </a:spcBef>
              <a:defRPr sz="1600">
                <a:solidFill>
                  <a:srgbClr val="202938"/>
                </a:solidFill>
              </a:defRPr>
            </a:pPr>
            <a:r>
              <a:t>• ตรวจสอบ Lot Number ในสินค้ากลุ่ม Raw Material</a:t>
            </a:r>
          </a:p>
          <a:p>
            <a:pPr>
              <a:spcBef>
                <a:spcPts val="200"/>
              </a:spcBef>
              <a:defRPr sz="1600">
                <a:solidFill>
                  <a:srgbClr val="202938"/>
                </a:solidFill>
              </a:defRPr>
            </a:pPr>
            <a:r>
              <a:t>• ตรวจสอบ Analytic Account ในเอกสาร PR/PO ทุกครั้ง</a:t>
            </a:r>
          </a:p>
          <a:p>
            <a:pPr>
              <a:spcBef>
                <a:spcPts val="200"/>
              </a:spcBef>
              <a:defRPr sz="1600">
                <a:solidFill>
                  <a:srgbClr val="202938"/>
                </a:solidFill>
              </a:defRPr>
            </a:pPr>
            <a:r>
              <a:t>• ตรวจสอบสถานะ Asset ในบัญชีหลังจากโพสต์ Vendor Bill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